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2" r:id="rId3"/>
    <p:sldId id="272" r:id="rId4"/>
    <p:sldId id="273" r:id="rId5"/>
    <p:sldId id="269" r:id="rId6"/>
    <p:sldId id="277" r:id="rId7"/>
    <p:sldId id="276" r:id="rId8"/>
    <p:sldId id="278" r:id="rId9"/>
    <p:sldId id="279" r:id="rId10"/>
    <p:sldId id="280" r:id="rId11"/>
    <p:sldId id="28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27"/>
    <p:restoredTop sz="94621"/>
  </p:normalViewPr>
  <p:slideViewPr>
    <p:cSldViewPr snapToGrid="0" snapToObjects="1">
      <p:cViewPr varScale="1">
        <p:scale>
          <a:sx n="73" d="100"/>
          <a:sy n="73" d="100"/>
        </p:scale>
        <p:origin x="208" y="1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dsa/finding-optimal-move-in-tic-tac-toe-using-minimax-algorithm-in-game-theory/" TargetMode="External"/><Relationship Id="rId3" Type="http://schemas.openxmlformats.org/officeDocument/2006/relationships/hyperlink" Target="https://en.wikipedia.org/wiki/Alpha%E2%80%93beta_pruning" TargetMode="External"/><Relationship Id="rId7" Type="http://schemas.openxmlformats.org/officeDocument/2006/relationships/hyperlink" Target="https://www.geeksforgeeks.org/dsa/minimax-algorithm-in-game-theory-set-4-alpha-beta-pruning/" TargetMode="External"/><Relationship Id="rId2" Type="http://schemas.openxmlformats.org/officeDocument/2006/relationships/hyperlink" Target="https://en.wikipedia.org/wiki/Minimax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eeksforgeeks.org/dsa/minimax-algorithm-in-game-theory-set-1-introduction/" TargetMode="External"/><Relationship Id="rId5" Type="http://schemas.openxmlformats.org/officeDocument/2006/relationships/hyperlink" Target="https://youtu.be/y7AKtWGOPAE" TargetMode="External"/><Relationship Id="rId4" Type="http://schemas.openxmlformats.org/officeDocument/2006/relationships/hyperlink" Target="https://youtu.be/l-hh51ncgD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Tic-Tac-Toe with Minimax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9FC5E8"/>
                </a:solidFill>
                <a:latin typeface="Calibri"/>
              </a:rPr>
              <a:t>and Alpha-Beta Pruning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CS5008 — Summer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7D6E8"/>
                </a:solidFill>
                <a:latin typeface="Calibri"/>
              </a:rPr>
              <a:t>Xin Wang  ·  Dan Liu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828800"/>
            <a:ext cx="883920" cy="883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200" b="1">
                <a:solidFill>
                  <a:srgbClr val="C0392B"/>
                </a:solidFill>
              </a:rPr>
              <a:t>X</a:t>
            </a:r>
          </a:p>
        </p:txBody>
      </p:sp>
      <p:sp>
        <p:nvSpPr>
          <p:cNvPr id="9" name="Rectangle 8"/>
          <p:cNvSpPr/>
          <p:nvPr/>
        </p:nvSpPr>
        <p:spPr>
          <a:xfrm>
            <a:off x="9753600" y="1828800"/>
            <a:ext cx="883920" cy="883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200" b="1">
                <a:solidFill>
                  <a:srgbClr val="1F6F43"/>
                </a:solidFill>
              </a:rPr>
              <a:t>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37520" y="1828800"/>
            <a:ext cx="883920" cy="883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200" b="1">
                <a:solidFill>
                  <a:srgbClr val="C0392B"/>
                </a:solidFill>
              </a:rPr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712720"/>
            <a:ext cx="883920" cy="883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200" b="1">
                <a:solidFill>
                  <a:srgbClr val="1F6F43"/>
                </a:solidFill>
              </a:rPr>
              <a:t>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53600" y="2712720"/>
            <a:ext cx="883920" cy="883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200" b="1">
                <a:solidFill>
                  <a:srgbClr val="C0392B"/>
                </a:solidFill>
              </a:rPr>
              <a:t>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37520" y="2712720"/>
            <a:ext cx="883920" cy="883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200" b="1">
                <a:solidFill>
                  <a:srgbClr val="1F6F43"/>
                </a:solidFill>
              </a:rPr>
              <a:t>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3596640"/>
            <a:ext cx="883920" cy="883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753600" y="3596640"/>
            <a:ext cx="883920" cy="883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637520" y="3596640"/>
            <a:ext cx="883920" cy="883920"/>
          </a:xfrm>
          <a:prstGeom prst="rect">
            <a:avLst/>
          </a:prstGeom>
          <a:solidFill>
            <a:srgbClr val="FFFFFF"/>
          </a:solidFill>
          <a:ln w="15875">
            <a:solidFill>
              <a:srgbClr val="B0B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200" b="1">
                <a:solidFill>
                  <a:srgbClr val="C0392B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8576-1DD5-2F6A-D9B1-C6B81C9AC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01BC6F-2017-9CEC-F8D4-59C4679BD3B8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3F332E-69D7-AC4E-CDC3-CF6C1B38E5B8}"/>
              </a:ext>
            </a:extLst>
          </p:cNvPr>
          <p:cNvSpPr/>
          <p:nvPr/>
        </p:nvSpPr>
        <p:spPr>
          <a:xfrm>
            <a:off x="674963" y="2363884"/>
            <a:ext cx="6050181" cy="3530454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3F4294-7ACC-F7C0-FD7B-D1F0B7D64847}"/>
              </a:ext>
            </a:extLst>
          </p:cNvPr>
          <p:cNvSpPr txBox="1"/>
          <p:nvPr/>
        </p:nvSpPr>
        <p:spPr>
          <a:xfrm>
            <a:off x="785551" y="2487931"/>
            <a:ext cx="5829003" cy="3530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1B2A4A"/>
              </a:solidFill>
              <a:latin typeface="Calibri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CA" sz="1700" dirty="0">
                <a:solidFill>
                  <a:srgbClr val="1B2A4A"/>
                </a:solidFill>
              </a:rPr>
              <a:t>Minimax is an algorithm for </a:t>
            </a:r>
            <a:r>
              <a:rPr lang="en-CA" sz="1700" b="1" dirty="0">
                <a:solidFill>
                  <a:srgbClr val="1B2A4A"/>
                </a:solidFill>
              </a:rPr>
              <a:t>adversarial games</a:t>
            </a:r>
            <a:r>
              <a:rPr lang="en-CA" sz="1700" dirty="0">
                <a:solidFill>
                  <a:srgbClr val="1B2A4A"/>
                </a:solidFill>
              </a:rPr>
              <a:t>: two players, opposite goals, full visibility of the board, taking turns.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CA" sz="1700" dirty="0">
                <a:solidFill>
                  <a:srgbClr val="1B2A4A"/>
                </a:solidFill>
              </a:rPr>
              <a:t>It </a:t>
            </a:r>
            <a:r>
              <a:rPr lang="en-CA" sz="1700" b="1" dirty="0">
                <a:solidFill>
                  <a:srgbClr val="1B2A4A"/>
                </a:solidFill>
              </a:rPr>
              <a:t>picks the best move</a:t>
            </a:r>
            <a:r>
              <a:rPr lang="en-CA" sz="1700" dirty="0">
                <a:solidFill>
                  <a:srgbClr val="1B2A4A"/>
                </a:solidFill>
              </a:rPr>
              <a:t> by assuming the opponent always plays their best possible move back </a:t>
            </a:r>
            <a:r>
              <a:rPr lang="en-CA" sz="1700" b="1" dirty="0">
                <a:solidFill>
                  <a:srgbClr val="1B2A4A"/>
                </a:solidFill>
              </a:rPr>
              <a:t> </a:t>
            </a:r>
            <a:r>
              <a:rPr lang="en-CA" sz="1700" dirty="0">
                <a:solidFill>
                  <a:srgbClr val="1B2A4A"/>
                </a:solidFill>
              </a:rPr>
              <a:t>— the best guaranteed outcome, not just the best possible one.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CA" sz="1700" dirty="0">
                <a:solidFill>
                  <a:srgbClr val="1B2A4A"/>
                </a:solidFill>
              </a:rPr>
              <a:t>We will use </a:t>
            </a:r>
            <a:r>
              <a:rPr lang="en-CA" sz="1700" b="1" dirty="0">
                <a:solidFill>
                  <a:srgbClr val="1B2A4A"/>
                </a:solidFill>
              </a:rPr>
              <a:t>tic-tac-toe</a:t>
            </a:r>
            <a:r>
              <a:rPr lang="en-CA" sz="1700" dirty="0">
                <a:solidFill>
                  <a:srgbClr val="1B2A4A"/>
                </a:solidFill>
              </a:rPr>
              <a:t> to see this in action, but the same idea applies to other more complex adversarial games, like chess.</a:t>
            </a:r>
          </a:p>
          <a:p>
            <a:pPr algn="l">
              <a:lnSpc>
                <a:spcPct val="130000"/>
              </a:lnSpc>
            </a:pPr>
            <a:endParaRPr sz="17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3F8C1-2741-C5B1-5EE5-D27C16E40715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B8E11-1FFA-3916-E94B-978825ADF2DF}"/>
              </a:ext>
            </a:extLst>
          </p:cNvPr>
          <p:cNvSpPr txBox="1"/>
          <p:nvPr/>
        </p:nvSpPr>
        <p:spPr>
          <a:xfrm>
            <a:off x="320040" y="2514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Introduction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0AC7A-FA8F-CC26-0128-169DAAD01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5649" y="2505285"/>
            <a:ext cx="2892153" cy="27161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825A81-BF1C-9989-98E6-A300FBF793EF}"/>
              </a:ext>
            </a:extLst>
          </p:cNvPr>
          <p:cNvSpPr txBox="1"/>
          <p:nvPr/>
        </p:nvSpPr>
        <p:spPr>
          <a:xfrm>
            <a:off x="8175649" y="5067505"/>
            <a:ext cx="6097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i="1" dirty="0">
                <a:solidFill>
                  <a:srgbClr val="1B2A4A"/>
                </a:solidFill>
              </a:rPr>
              <a:t>two-players, zero-sum, perfect information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89078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33CD-7B26-7F6B-6C58-B9F0DE4DE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233611-74B8-3055-7CFC-2C3B3B3639E5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258434-128E-D907-DE8C-F65859F2B28C}"/>
              </a:ext>
            </a:extLst>
          </p:cNvPr>
          <p:cNvSpPr/>
          <p:nvPr/>
        </p:nvSpPr>
        <p:spPr>
          <a:xfrm>
            <a:off x="640080" y="4480560"/>
            <a:ext cx="10881360" cy="14630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FB4DF-14B1-EEF4-A987-0559E624FA92}"/>
              </a:ext>
            </a:extLst>
          </p:cNvPr>
          <p:cNvSpPr txBox="1"/>
          <p:nvPr/>
        </p:nvSpPr>
        <p:spPr>
          <a:xfrm>
            <a:off x="868680" y="4537045"/>
            <a:ext cx="10424160" cy="1085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700" b="1" i="0" dirty="0">
                <a:solidFill>
                  <a:srgbClr val="1B2A4A"/>
                </a:solidFill>
                <a:latin typeface="Calibri"/>
              </a:rPr>
              <a:t>Give each player a goal: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/>
              </a:rPr>
              <a:t>X player (MAX player) has the goal of maximizing the score: ideally 10, 0 if not</a:t>
            </a: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 b="1" i="0" dirty="0">
                <a:solidFill>
                  <a:srgbClr val="1B2A4A"/>
                </a:solidFill>
                <a:latin typeface="Calibri"/>
              </a:rPr>
              <a:t>O </a:t>
            </a:r>
            <a:r>
              <a:rPr lang="en-US" sz="1700" b="1" dirty="0">
                <a:solidFill>
                  <a:srgbClr val="1B2A4A"/>
                </a:solidFill>
                <a:latin typeface="Calibri"/>
              </a:rPr>
              <a:t>player (MIN player) has the goal of minimizing the score: ideally -10, 0 if not</a:t>
            </a:r>
            <a:endParaRPr sz="17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5915F-27A7-3799-B3DC-2EC7503A9CEB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BF66A-6231-D917-9B9F-97C3DB3BC47D}"/>
              </a:ext>
            </a:extLst>
          </p:cNvPr>
          <p:cNvSpPr txBox="1"/>
          <p:nvPr/>
        </p:nvSpPr>
        <p:spPr>
          <a:xfrm>
            <a:off x="320040" y="2514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Terminal States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AC920-B461-803F-ACBC-54B1C6E94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190" y="2339736"/>
            <a:ext cx="146050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E3AB11-E9AF-ACB9-D6CA-EB40C069F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508" y="2403767"/>
            <a:ext cx="1368961" cy="12768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60FDE0-6B5A-CC1A-44B3-EE97334EE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772" y="2429504"/>
            <a:ext cx="1267600" cy="12253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4AEEB9-5861-A62D-5C96-9B7395EA9ABD}"/>
              </a:ext>
            </a:extLst>
          </p:cNvPr>
          <p:cNvSpPr txBox="1"/>
          <p:nvPr/>
        </p:nvSpPr>
        <p:spPr>
          <a:xfrm>
            <a:off x="2882220" y="38361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01F2D1-73A3-19CF-207B-6F091A9DFDE2}"/>
              </a:ext>
            </a:extLst>
          </p:cNvPr>
          <p:cNvSpPr txBox="1"/>
          <p:nvPr/>
        </p:nvSpPr>
        <p:spPr>
          <a:xfrm>
            <a:off x="5590388" y="38361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60F546-4210-0489-0ECF-1BFE6A43B380}"/>
              </a:ext>
            </a:extLst>
          </p:cNvPr>
          <p:cNvSpPr txBox="1"/>
          <p:nvPr/>
        </p:nvSpPr>
        <p:spPr>
          <a:xfrm>
            <a:off x="8327370" y="383613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-10</a:t>
            </a:r>
          </a:p>
        </p:txBody>
      </p:sp>
    </p:spTree>
    <p:extLst>
      <p:ext uri="{BB962C8B-B14F-4D97-AF65-F5344CB8AC3E}">
        <p14:creationId xmlns:p14="http://schemas.microsoft.com/office/powerpoint/2010/main" val="66927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2D5B2-BCB5-2765-AEF6-A47D9401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2B5711-8404-AB6C-CE1B-7523C626973B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77A79-C066-619E-65DB-D85C78DC52F2}"/>
              </a:ext>
            </a:extLst>
          </p:cNvPr>
          <p:cNvSpPr/>
          <p:nvPr/>
        </p:nvSpPr>
        <p:spPr>
          <a:xfrm>
            <a:off x="663829" y="1884614"/>
            <a:ext cx="4727567" cy="442728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05A56-50EC-0F5B-3AA6-0C6496A1E9CB}"/>
              </a:ext>
            </a:extLst>
          </p:cNvPr>
          <p:cNvSpPr txBox="1"/>
          <p:nvPr/>
        </p:nvSpPr>
        <p:spPr>
          <a:xfrm>
            <a:off x="782581" y="2365346"/>
            <a:ext cx="4490061" cy="3465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/>
              </a:rPr>
              <a:t>X’s turn to move.</a:t>
            </a:r>
          </a:p>
          <a:p>
            <a:pPr algn="l">
              <a:lnSpc>
                <a:spcPct val="130000"/>
              </a:lnSpc>
            </a:pPr>
            <a:endParaRPr lang="en-US" sz="1700" b="1" dirty="0">
              <a:solidFill>
                <a:srgbClr val="1B2A4A"/>
              </a:solidFill>
              <a:latin typeface="Calibri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/>
              </a:rPr>
              <a:t>X is the maximizer,  and he wants the value to be as max as possible.</a:t>
            </a:r>
          </a:p>
          <a:p>
            <a:pPr algn="l">
              <a:lnSpc>
                <a:spcPct val="130000"/>
              </a:lnSpc>
            </a:pPr>
            <a:endParaRPr lang="en-US" sz="1700" b="1" dirty="0">
              <a:solidFill>
                <a:srgbClr val="1B2A4A"/>
              </a:solidFill>
              <a:latin typeface="Calibri"/>
            </a:endParaRPr>
          </a:p>
          <a:p>
            <a:pPr marL="285750" indent="-2857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/>
              </a:rPr>
              <a:t>It’s not the terminal state, he needs to </a:t>
            </a:r>
            <a:r>
              <a:rPr lang="en-US" sz="1700" b="1" dirty="0">
                <a:solidFill>
                  <a:schemeClr val="accent2"/>
                </a:solidFill>
                <a:latin typeface="Calibri"/>
              </a:rPr>
              <a:t>evaluate all the possible moves </a:t>
            </a:r>
            <a:r>
              <a:rPr lang="en-US" sz="1700" b="1" dirty="0">
                <a:solidFill>
                  <a:srgbClr val="1B2A4A"/>
                </a:solidFill>
                <a:latin typeface="Calibri"/>
              </a:rPr>
              <a:t>he can make and look at what the board will result from taking those actions.</a:t>
            </a:r>
          </a:p>
          <a:p>
            <a:pPr algn="l">
              <a:lnSpc>
                <a:spcPct val="130000"/>
              </a:lnSpc>
            </a:pPr>
            <a:endParaRPr sz="17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669E5-C36A-34AD-F645-2A825FBC54A6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0F5D81-E381-DD8C-0D9B-8EDD817EA4F7}"/>
              </a:ext>
            </a:extLst>
          </p:cNvPr>
          <p:cNvSpPr txBox="1"/>
          <p:nvPr/>
        </p:nvSpPr>
        <p:spPr>
          <a:xfrm>
            <a:off x="320040" y="25146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Non-terminal States 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A9C63-FC06-12FF-9DCC-79F2C662A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127" y="1485900"/>
            <a:ext cx="5664200" cy="482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AAED58-DFA0-FD4B-DF6E-75CFAA79660A}"/>
              </a:ext>
            </a:extLst>
          </p:cNvPr>
          <p:cNvSpPr txBox="1"/>
          <p:nvPr/>
        </p:nvSpPr>
        <p:spPr>
          <a:xfrm>
            <a:off x="7079141" y="5372100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62E5D0-12AA-7351-5074-40E6C2B410B9}"/>
              </a:ext>
            </a:extLst>
          </p:cNvPr>
          <p:cNvSpPr txBox="1"/>
          <p:nvPr/>
        </p:nvSpPr>
        <p:spPr>
          <a:xfrm>
            <a:off x="7079141" y="3728925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-10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42DA1-45F3-4748-C104-37C64A8D1046}"/>
              </a:ext>
            </a:extLst>
          </p:cNvPr>
          <p:cNvSpPr txBox="1"/>
          <p:nvPr/>
        </p:nvSpPr>
        <p:spPr>
          <a:xfrm>
            <a:off x="10569827" y="53721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49F927-B0F8-CF33-9534-205A576EB013}"/>
              </a:ext>
            </a:extLst>
          </p:cNvPr>
          <p:cNvSpPr txBox="1"/>
          <p:nvPr/>
        </p:nvSpPr>
        <p:spPr>
          <a:xfrm>
            <a:off x="10569827" y="3728925"/>
            <a:ext cx="489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23090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Minimax Algorithm 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712288"/>
            <a:ext cx="43738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/>
              </a:rPr>
              <a:t>Whether a game state is terminal, meaning the game is over. </a:t>
            </a:r>
            <a:r>
              <a:rPr lang="en-US" sz="1700" b="1" dirty="0">
                <a:solidFill>
                  <a:schemeClr val="accent2"/>
                </a:solidFill>
                <a:latin typeface="Calibri"/>
              </a:rPr>
              <a:t>Terminal(state) </a:t>
            </a:r>
            <a:r>
              <a:rPr lang="en-US" sz="1700" b="1" dirty="0">
                <a:solidFill>
                  <a:srgbClr val="1B2A4A"/>
                </a:solidFill>
                <a:latin typeface="Calibri"/>
              </a:rPr>
              <a:t>= true/false. If true, we need to get the </a:t>
            </a:r>
            <a:r>
              <a:rPr lang="en-US" sz="1700" b="1" dirty="0">
                <a:solidFill>
                  <a:schemeClr val="accent2"/>
                </a:solidFill>
                <a:latin typeface="Calibri"/>
              </a:rPr>
              <a:t>Value(state).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1700" b="1" dirty="0">
              <a:solidFill>
                <a:schemeClr val="accent2"/>
              </a:solidFill>
              <a:latin typeface="Calibri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/>
              </a:rPr>
              <a:t>Also</a:t>
            </a:r>
            <a:r>
              <a:rPr lang="en-US" sz="1700" b="1" dirty="0">
                <a:solidFill>
                  <a:schemeClr val="accent2"/>
                </a:solidFill>
                <a:latin typeface="Calibri"/>
              </a:rPr>
              <a:t> </a:t>
            </a:r>
            <a:r>
              <a:rPr lang="en-US" sz="1700" b="1" dirty="0">
                <a:latin typeface="Calibri"/>
              </a:rPr>
              <a:t>need to whose turn it is in any given game state. </a:t>
            </a:r>
            <a:r>
              <a:rPr lang="en-US" sz="1700" b="1" dirty="0" err="1">
                <a:solidFill>
                  <a:srgbClr val="C00000"/>
                </a:solidFill>
                <a:latin typeface="Calibri"/>
              </a:rPr>
              <a:t>isMax</a:t>
            </a:r>
            <a:r>
              <a:rPr lang="en-US" sz="1700" b="1" dirty="0">
                <a:solidFill>
                  <a:srgbClr val="C00000"/>
                </a:solidFill>
                <a:latin typeface="Calibri"/>
              </a:rPr>
              <a:t> </a:t>
            </a:r>
            <a:r>
              <a:rPr lang="en-US" sz="1700" b="1" dirty="0">
                <a:latin typeface="Calibri"/>
              </a:rPr>
              <a:t>= true/false.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1700" b="1" dirty="0">
              <a:solidFill>
                <a:srgbClr val="C00000"/>
              </a:solidFill>
              <a:latin typeface="Calibri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/>
              </a:rPr>
              <a:t>In a particular game state, we need to know what actions are available. </a:t>
            </a:r>
            <a:r>
              <a:rPr lang="en-US" sz="1700" b="1" dirty="0">
                <a:solidFill>
                  <a:srgbClr val="C00000"/>
                </a:solidFill>
                <a:latin typeface="Calibri"/>
              </a:rPr>
              <a:t>Actions(state) </a:t>
            </a:r>
            <a:r>
              <a:rPr lang="en-US" sz="1700" b="1" dirty="0">
                <a:latin typeface="Calibri"/>
              </a:rPr>
              <a:t>= {move 1, move 2, move 3}.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1700" b="1" dirty="0">
              <a:latin typeface="Calibri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Calibri"/>
              </a:rPr>
              <a:t>Finally, we need </a:t>
            </a:r>
            <a:r>
              <a:rPr lang="en-US" sz="1700" b="1" dirty="0">
                <a:solidFill>
                  <a:srgbClr val="C00000"/>
                </a:solidFill>
                <a:latin typeface="Calibri"/>
              </a:rPr>
              <a:t>Result(state, action)</a:t>
            </a:r>
            <a:r>
              <a:rPr lang="en-US" sz="1700" b="1" dirty="0">
                <a:latin typeface="Calibri"/>
              </a:rPr>
              <a:t>, what state will be after taking that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E31FC3-BACA-C25D-1EE0-73A19BF4D2AE}"/>
              </a:ext>
            </a:extLst>
          </p:cNvPr>
          <p:cNvSpPr/>
          <p:nvPr/>
        </p:nvSpPr>
        <p:spPr>
          <a:xfrm>
            <a:off x="5564050" y="1389888"/>
            <a:ext cx="6231710" cy="5243141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Minimax(s, </a:t>
            </a:r>
            <a:r>
              <a:rPr lang="en-US" b="1" dirty="0" err="1">
                <a:solidFill>
                  <a:schemeClr val="tx1"/>
                </a:solidFill>
              </a:rPr>
              <a:t>isMax</a:t>
            </a:r>
            <a:r>
              <a:rPr lang="en-US" b="1" dirty="0">
                <a:solidFill>
                  <a:schemeClr val="tx1"/>
                </a:solidFill>
              </a:rPr>
              <a:t>):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if </a:t>
            </a:r>
            <a:r>
              <a:rPr lang="en-US" b="1" dirty="0">
                <a:solidFill>
                  <a:schemeClr val="tx1"/>
                </a:solidFill>
              </a:rPr>
              <a:t>Terminal(s)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return </a:t>
            </a:r>
            <a:r>
              <a:rPr lang="en-US" b="1" dirty="0">
                <a:solidFill>
                  <a:schemeClr val="tx1"/>
                </a:solidFill>
              </a:rPr>
              <a:t>Value(s)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if </a:t>
            </a:r>
            <a:r>
              <a:rPr lang="en-US" b="1" dirty="0" err="1">
                <a:solidFill>
                  <a:schemeClr val="tx1"/>
                </a:solidFill>
              </a:rPr>
              <a:t>isMax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</a:t>
            </a:r>
            <a:r>
              <a:rPr lang="en-US" dirty="0" err="1">
                <a:solidFill>
                  <a:schemeClr val="tx1"/>
                </a:solidFill>
              </a:rPr>
              <a:t>maxValue</a:t>
            </a:r>
            <a:r>
              <a:rPr lang="en-US" dirty="0">
                <a:solidFill>
                  <a:schemeClr val="tx1"/>
                </a:solidFill>
              </a:rPr>
              <a:t> = -infinity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for a in </a:t>
            </a:r>
            <a:r>
              <a:rPr lang="en-US" b="1" dirty="0">
                <a:solidFill>
                  <a:schemeClr val="tx1"/>
                </a:solidFill>
              </a:rPr>
              <a:t>Actions(s)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value = </a:t>
            </a:r>
            <a:r>
              <a:rPr lang="en-US" b="1" dirty="0">
                <a:solidFill>
                  <a:schemeClr val="tx1"/>
                </a:solidFill>
              </a:rPr>
              <a:t>Minimax(Result(s, a), false)</a:t>
            </a: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</a:t>
            </a:r>
            <a:r>
              <a:rPr lang="en-US" dirty="0" err="1">
                <a:solidFill>
                  <a:schemeClr val="tx1"/>
                </a:solidFill>
              </a:rPr>
              <a:t>maxValue</a:t>
            </a:r>
            <a:r>
              <a:rPr lang="en-US" dirty="0">
                <a:solidFill>
                  <a:schemeClr val="tx1"/>
                </a:solidFill>
              </a:rPr>
              <a:t> = Max(</a:t>
            </a:r>
            <a:r>
              <a:rPr lang="en-US" dirty="0" err="1">
                <a:solidFill>
                  <a:schemeClr val="tx1"/>
                </a:solidFill>
              </a:rPr>
              <a:t>maxValue</a:t>
            </a:r>
            <a:r>
              <a:rPr lang="en-US" dirty="0">
                <a:solidFill>
                  <a:schemeClr val="tx1"/>
                </a:solidFill>
              </a:rPr>
              <a:t>, value)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return </a:t>
            </a:r>
            <a:r>
              <a:rPr lang="en-US" dirty="0" err="1">
                <a:solidFill>
                  <a:schemeClr val="tx1"/>
                </a:solidFill>
              </a:rPr>
              <a:t>maxValue</a:t>
            </a: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if </a:t>
            </a:r>
            <a:r>
              <a:rPr lang="en-US" b="1" dirty="0">
                <a:solidFill>
                  <a:schemeClr val="tx1"/>
                </a:solidFill>
              </a:rPr>
              <a:t>!</a:t>
            </a:r>
            <a:r>
              <a:rPr lang="en-US" b="1" dirty="0" err="1">
                <a:solidFill>
                  <a:schemeClr val="tx1"/>
                </a:solidFill>
              </a:rPr>
              <a:t>isMax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</a:t>
            </a:r>
            <a:r>
              <a:rPr lang="en-US" dirty="0" err="1">
                <a:solidFill>
                  <a:schemeClr val="tx1"/>
                </a:solidFill>
              </a:rPr>
              <a:t>minValue</a:t>
            </a:r>
            <a:r>
              <a:rPr lang="en-US" dirty="0">
                <a:solidFill>
                  <a:schemeClr val="tx1"/>
                </a:solidFill>
              </a:rPr>
              <a:t> = infinity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for a in </a:t>
            </a:r>
            <a:r>
              <a:rPr lang="en-US" b="1" dirty="0">
                <a:solidFill>
                  <a:schemeClr val="tx1"/>
                </a:solidFill>
              </a:rPr>
              <a:t>Actions(s):</a:t>
            </a:r>
          </a:p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			</a:t>
            </a:r>
            <a:r>
              <a:rPr lang="en-US" dirty="0">
                <a:solidFill>
                  <a:schemeClr val="tx1"/>
                </a:solidFill>
              </a:rPr>
              <a:t>value = </a:t>
            </a:r>
            <a:r>
              <a:rPr lang="en-US" b="1" dirty="0">
                <a:solidFill>
                  <a:schemeClr val="tx1"/>
                </a:solidFill>
              </a:rPr>
              <a:t>Minimax(Result(s, a)), true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</a:t>
            </a:r>
            <a:r>
              <a:rPr lang="en-US" dirty="0" err="1">
                <a:solidFill>
                  <a:schemeClr val="tx1"/>
                </a:solidFill>
              </a:rPr>
              <a:t>minValue</a:t>
            </a:r>
            <a:r>
              <a:rPr lang="en-US" dirty="0">
                <a:solidFill>
                  <a:schemeClr val="tx1"/>
                </a:solidFill>
              </a:rPr>
              <a:t> = Min( </a:t>
            </a:r>
            <a:r>
              <a:rPr lang="en-US" dirty="0" err="1">
                <a:solidFill>
                  <a:schemeClr val="tx1"/>
                </a:solidFill>
              </a:rPr>
              <a:t>minValue</a:t>
            </a:r>
            <a:r>
              <a:rPr lang="en-US" dirty="0">
                <a:solidFill>
                  <a:schemeClr val="tx1"/>
                </a:solidFill>
              </a:rPr>
              <a:t>, value)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return </a:t>
            </a:r>
            <a:r>
              <a:rPr lang="en-US" dirty="0" err="1">
                <a:solidFill>
                  <a:schemeClr val="tx1"/>
                </a:solidFill>
              </a:rPr>
              <a:t>minValue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7ACA-1B39-A6F3-AC0B-F80EEC788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8698B6-1EC2-E30B-A354-A52F2F6A51AE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9B388-12CF-E8ED-49C0-F7967EE5B225}"/>
              </a:ext>
            </a:extLst>
          </p:cNvPr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Minimax Algorithm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7E792-FEF4-BE26-85DE-0539C9E0021B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1FA596-6795-4C0B-E945-BC67C6792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258" y="1736488"/>
            <a:ext cx="8171542" cy="42537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1CDF6F-EB0D-6B4A-BF70-C22691DE8B4E}"/>
              </a:ext>
            </a:extLst>
          </p:cNvPr>
          <p:cNvSpPr txBox="1"/>
          <p:nvPr/>
        </p:nvSpPr>
        <p:spPr>
          <a:xfrm>
            <a:off x="2902857" y="4746171"/>
            <a:ext cx="10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Max(?, ?)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041DD-FA11-B610-6FFC-D7B5392B04FA}"/>
              </a:ext>
            </a:extLst>
          </p:cNvPr>
          <p:cNvSpPr txBox="1"/>
          <p:nvPr/>
        </p:nvSpPr>
        <p:spPr>
          <a:xfrm>
            <a:off x="4477657" y="4746171"/>
            <a:ext cx="10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Max(?, ?)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4B9B3A-6575-C790-DF43-21CF28507252}"/>
              </a:ext>
            </a:extLst>
          </p:cNvPr>
          <p:cNvSpPr txBox="1"/>
          <p:nvPr/>
        </p:nvSpPr>
        <p:spPr>
          <a:xfrm>
            <a:off x="3751943" y="3732285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Min(?, ?)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3B8500-9B0E-1074-633B-7B382631709C}"/>
              </a:ext>
            </a:extLst>
          </p:cNvPr>
          <p:cNvSpPr txBox="1"/>
          <p:nvPr/>
        </p:nvSpPr>
        <p:spPr>
          <a:xfrm>
            <a:off x="6926634" y="3742779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Min(?, ?)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7B5CF5-06C8-C69B-0732-046634A81F78}"/>
              </a:ext>
            </a:extLst>
          </p:cNvPr>
          <p:cNvSpPr txBox="1"/>
          <p:nvPr/>
        </p:nvSpPr>
        <p:spPr>
          <a:xfrm>
            <a:off x="5333317" y="2871998"/>
            <a:ext cx="107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Max(?, ?)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6D00A0-A32E-00D7-C4E2-73F4C6DDB7B5}"/>
              </a:ext>
            </a:extLst>
          </p:cNvPr>
          <p:cNvSpPr txBox="1"/>
          <p:nvPr/>
        </p:nvSpPr>
        <p:spPr>
          <a:xfrm>
            <a:off x="3289725" y="4310481"/>
            <a:ext cx="3016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DC6892-5C71-C131-084C-3ED0D3CB4106}"/>
              </a:ext>
            </a:extLst>
          </p:cNvPr>
          <p:cNvSpPr txBox="1"/>
          <p:nvPr/>
        </p:nvSpPr>
        <p:spPr>
          <a:xfrm>
            <a:off x="4806016" y="4291685"/>
            <a:ext cx="4187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1456C-ECD4-1BB0-FEED-EA8FD644665B}"/>
              </a:ext>
            </a:extLst>
          </p:cNvPr>
          <p:cNvSpPr txBox="1"/>
          <p:nvPr/>
        </p:nvSpPr>
        <p:spPr>
          <a:xfrm>
            <a:off x="4119831" y="3341999"/>
            <a:ext cx="3016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9713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2" grpId="0"/>
      <p:bldP spid="13" grpId="0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61E5-BF66-E415-92C7-C420D0C35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18770A-6880-BC9E-3581-F828C882283E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5E9A6-08B4-B660-481F-16290D0E1213}"/>
              </a:ext>
            </a:extLst>
          </p:cNvPr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Alpha-beta Pruning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1E2246-249F-877F-E75F-646137A7389A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7BF17E-669D-E2FF-2F71-CD35EF43DB0E}"/>
              </a:ext>
            </a:extLst>
          </p:cNvPr>
          <p:cNvSpPr/>
          <p:nvPr/>
        </p:nvSpPr>
        <p:spPr>
          <a:xfrm>
            <a:off x="6793873" y="1653356"/>
            <a:ext cx="4727567" cy="442728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Max’s turn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Goal: Maximize the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Question: Does he need to search the last leaf node?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Question: What is alpha and beta?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alpha = the highest value MAX has already guaranteed itself somewhere higher up.</a:t>
            </a:r>
          </a:p>
          <a:p>
            <a:pPr lvl="0"/>
            <a:endParaRPr lang="en-CA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chemeClr val="tx1"/>
                </a:solidFill>
              </a:rPr>
              <a:t>beta = the lowest value MIN has already guaranteed itself somewhere higher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776E94-A73F-8A38-6830-376D49261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39" y="1763202"/>
            <a:ext cx="5859417" cy="4427286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3DE930F-66D5-0794-DE77-CF575E31FC30}"/>
              </a:ext>
            </a:extLst>
          </p:cNvPr>
          <p:cNvSpPr/>
          <p:nvPr/>
        </p:nvSpPr>
        <p:spPr>
          <a:xfrm>
            <a:off x="4601029" y="4934857"/>
            <a:ext cx="827314" cy="85634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2F0FE8-7046-324D-4E76-669929EDB69C}"/>
              </a:ext>
            </a:extLst>
          </p:cNvPr>
          <p:cNvSpPr txBox="1"/>
          <p:nvPr/>
        </p:nvSpPr>
        <p:spPr>
          <a:xfrm>
            <a:off x="4746171" y="5109028"/>
            <a:ext cx="5515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8CC54B-35A0-DF70-C184-1DEB24067AF1}"/>
              </a:ext>
            </a:extLst>
          </p:cNvPr>
          <p:cNvSpPr txBox="1"/>
          <p:nvPr/>
        </p:nvSpPr>
        <p:spPr>
          <a:xfrm>
            <a:off x="4122057" y="3848090"/>
            <a:ext cx="65314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&lt;=2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C8A342-0D0D-E5CA-FB6A-C405F89547F5}"/>
              </a:ext>
            </a:extLst>
          </p:cNvPr>
          <p:cNvSpPr txBox="1"/>
          <p:nvPr/>
        </p:nvSpPr>
        <p:spPr>
          <a:xfrm>
            <a:off x="4601029" y="4483926"/>
            <a:ext cx="551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0896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F3140-EA19-134B-2B27-A5A4115FE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7D1078-E7EF-7C92-83A5-EA2C54D55B63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E683D-7E11-D756-82EA-F901374950A2}"/>
              </a:ext>
            </a:extLst>
          </p:cNvPr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Minimax Algorithm with alpha-beta pruning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A29086-97FE-E804-F8D8-BD9C19AAB710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EBFDC6-DC0F-1E4A-4FA3-C1254E5990B0}"/>
              </a:ext>
            </a:extLst>
          </p:cNvPr>
          <p:cNvSpPr/>
          <p:nvPr/>
        </p:nvSpPr>
        <p:spPr>
          <a:xfrm>
            <a:off x="502920" y="1507381"/>
            <a:ext cx="5593080" cy="4711917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Minimax(s, </a:t>
            </a:r>
            <a:r>
              <a:rPr lang="en-US" b="1" dirty="0">
                <a:solidFill>
                  <a:srgbClr val="C00000"/>
                </a:solidFill>
              </a:rPr>
              <a:t>alpha, beta</a:t>
            </a:r>
            <a:r>
              <a:rPr lang="en-US" b="1" dirty="0">
                <a:solidFill>
                  <a:schemeClr val="tx1"/>
                </a:solidFill>
              </a:rPr>
              <a:t>, </a:t>
            </a:r>
            <a:r>
              <a:rPr lang="en-US" b="1" dirty="0" err="1">
                <a:solidFill>
                  <a:schemeClr val="tx1"/>
                </a:solidFill>
              </a:rPr>
              <a:t>isMax</a:t>
            </a:r>
            <a:r>
              <a:rPr lang="en-US" b="1" dirty="0">
                <a:solidFill>
                  <a:schemeClr val="tx1"/>
                </a:solidFill>
              </a:rPr>
              <a:t>):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if </a:t>
            </a:r>
            <a:r>
              <a:rPr lang="en-US" b="1" dirty="0">
                <a:solidFill>
                  <a:schemeClr val="tx1"/>
                </a:solidFill>
              </a:rPr>
              <a:t>Terminal(s)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return </a:t>
            </a:r>
            <a:r>
              <a:rPr lang="en-US" b="1" dirty="0">
                <a:solidFill>
                  <a:schemeClr val="tx1"/>
                </a:solidFill>
              </a:rPr>
              <a:t>Value(s)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if </a:t>
            </a:r>
            <a:r>
              <a:rPr lang="en-US" b="1" dirty="0" err="1">
                <a:solidFill>
                  <a:schemeClr val="tx1"/>
                </a:solidFill>
              </a:rPr>
              <a:t>isMax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</a:t>
            </a:r>
            <a:r>
              <a:rPr lang="en-US" dirty="0" err="1">
                <a:solidFill>
                  <a:schemeClr val="tx1"/>
                </a:solidFill>
              </a:rPr>
              <a:t>maxValue</a:t>
            </a:r>
            <a:r>
              <a:rPr lang="en-US" dirty="0">
                <a:solidFill>
                  <a:schemeClr val="tx1"/>
                </a:solidFill>
              </a:rPr>
              <a:t> = -infinity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for a in </a:t>
            </a:r>
            <a:r>
              <a:rPr lang="en-US" b="1" dirty="0">
                <a:solidFill>
                  <a:schemeClr val="tx1"/>
                </a:solidFill>
              </a:rPr>
              <a:t>Actions(s)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value = </a:t>
            </a:r>
            <a:r>
              <a:rPr lang="en-US" b="1" dirty="0">
                <a:solidFill>
                  <a:schemeClr val="tx1"/>
                </a:solidFill>
              </a:rPr>
              <a:t>Minimax(Result(s, a), </a:t>
            </a:r>
            <a:r>
              <a:rPr lang="en-US" b="1" dirty="0">
                <a:solidFill>
                  <a:srgbClr val="C00000"/>
                </a:solidFill>
              </a:rPr>
              <a:t>alpha, beta</a:t>
            </a:r>
            <a:r>
              <a:rPr lang="en-US" b="1" dirty="0">
                <a:solidFill>
                  <a:schemeClr val="tx1"/>
                </a:solidFill>
              </a:rPr>
              <a:t>, false)</a:t>
            </a: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</a:t>
            </a:r>
            <a:r>
              <a:rPr lang="en-US" dirty="0" err="1">
                <a:solidFill>
                  <a:schemeClr val="tx1"/>
                </a:solidFill>
              </a:rPr>
              <a:t>maxValue</a:t>
            </a:r>
            <a:r>
              <a:rPr lang="en-US" dirty="0">
                <a:solidFill>
                  <a:schemeClr val="tx1"/>
                </a:solidFill>
              </a:rPr>
              <a:t> = Max(</a:t>
            </a:r>
            <a:r>
              <a:rPr lang="en-US" dirty="0" err="1">
                <a:solidFill>
                  <a:schemeClr val="tx1"/>
                </a:solidFill>
              </a:rPr>
              <a:t>maxValue</a:t>
            </a:r>
            <a:r>
              <a:rPr lang="en-US" dirty="0">
                <a:solidFill>
                  <a:schemeClr val="tx1"/>
                </a:solidFill>
              </a:rPr>
              <a:t>, value)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</a:t>
            </a:r>
            <a:r>
              <a:rPr lang="en-US" dirty="0">
                <a:solidFill>
                  <a:srgbClr val="C00000"/>
                </a:solidFill>
              </a:rPr>
              <a:t>alpha = Max(alpha, value)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C00000"/>
                </a:solidFill>
              </a:rPr>
              <a:t>			if beta &lt;= alpha: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C00000"/>
                </a:solidFill>
              </a:rPr>
              <a:t>				break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return </a:t>
            </a:r>
            <a:r>
              <a:rPr lang="en-US" dirty="0" err="1">
                <a:solidFill>
                  <a:schemeClr val="tx1"/>
                </a:solidFill>
              </a:rPr>
              <a:t>maxValue</a:t>
            </a: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3FFE36-1B58-CFCF-C930-F9E0EF0D0A6B}"/>
              </a:ext>
            </a:extLst>
          </p:cNvPr>
          <p:cNvSpPr/>
          <p:nvPr/>
        </p:nvSpPr>
        <p:spPr>
          <a:xfrm>
            <a:off x="6202680" y="1507380"/>
            <a:ext cx="5593080" cy="4711917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if </a:t>
            </a:r>
            <a:r>
              <a:rPr lang="en-US" b="1" dirty="0">
                <a:solidFill>
                  <a:schemeClr val="tx1"/>
                </a:solidFill>
              </a:rPr>
              <a:t>!</a:t>
            </a:r>
            <a:r>
              <a:rPr lang="en-US" b="1" dirty="0" err="1">
                <a:solidFill>
                  <a:schemeClr val="tx1"/>
                </a:solidFill>
              </a:rPr>
              <a:t>isMax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</a:t>
            </a:r>
            <a:r>
              <a:rPr lang="en-US" dirty="0" err="1">
                <a:solidFill>
                  <a:schemeClr val="tx1"/>
                </a:solidFill>
              </a:rPr>
              <a:t>minValue</a:t>
            </a:r>
            <a:r>
              <a:rPr lang="en-US" dirty="0">
                <a:solidFill>
                  <a:schemeClr val="tx1"/>
                </a:solidFill>
              </a:rPr>
              <a:t> = infinity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for a in </a:t>
            </a:r>
            <a:r>
              <a:rPr lang="en-US" b="1" dirty="0">
                <a:solidFill>
                  <a:schemeClr val="tx1"/>
                </a:solidFill>
              </a:rPr>
              <a:t>Actions(s):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value = </a:t>
            </a:r>
            <a:r>
              <a:rPr lang="en-US" b="1" dirty="0">
                <a:solidFill>
                  <a:schemeClr val="tx1"/>
                </a:solidFill>
              </a:rPr>
              <a:t>Minimax(Result(s, a)), </a:t>
            </a:r>
            <a:r>
              <a:rPr lang="en-US" b="1" dirty="0">
                <a:solidFill>
                  <a:srgbClr val="C00000"/>
                </a:solidFill>
              </a:rPr>
              <a:t>alpha, beta</a:t>
            </a:r>
            <a:r>
              <a:rPr lang="en-US" b="1" dirty="0">
                <a:solidFill>
                  <a:schemeClr val="tx1"/>
                </a:solidFill>
              </a:rPr>
              <a:t>, true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</a:t>
            </a:r>
            <a:r>
              <a:rPr lang="en-US" dirty="0" err="1">
                <a:solidFill>
                  <a:schemeClr val="tx1"/>
                </a:solidFill>
              </a:rPr>
              <a:t>minValue</a:t>
            </a:r>
            <a:r>
              <a:rPr lang="en-US" dirty="0">
                <a:solidFill>
                  <a:schemeClr val="tx1"/>
                </a:solidFill>
              </a:rPr>
              <a:t> = Min(</a:t>
            </a:r>
            <a:r>
              <a:rPr lang="en-US" dirty="0" err="1">
                <a:solidFill>
                  <a:schemeClr val="tx1"/>
                </a:solidFill>
              </a:rPr>
              <a:t>minValue</a:t>
            </a:r>
            <a:r>
              <a:rPr lang="en-US" dirty="0">
                <a:solidFill>
                  <a:schemeClr val="tx1"/>
                </a:solidFill>
              </a:rPr>
              <a:t>, value)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	</a:t>
            </a:r>
            <a:r>
              <a:rPr lang="en-US" dirty="0">
                <a:solidFill>
                  <a:srgbClr val="C00000"/>
                </a:solidFill>
              </a:rPr>
              <a:t>beta = Min(beta, value)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C00000"/>
                </a:solidFill>
              </a:rPr>
              <a:t>			if beta &lt;= alpha: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C00000"/>
                </a:solidFill>
              </a:rPr>
              <a:t>				break;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		return </a:t>
            </a:r>
            <a:r>
              <a:rPr lang="en-US" dirty="0" err="1">
                <a:solidFill>
                  <a:schemeClr val="tx1"/>
                </a:solidFill>
              </a:rPr>
              <a:t>minValue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4268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84783-4BA6-CBFB-EEB1-4CB4AB4A0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2A7BDE-98A2-0A81-056B-EA8DFEE5AB3A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DE38B-FF8A-450E-8792-A8A6A6D41939}"/>
              </a:ext>
            </a:extLst>
          </p:cNvPr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Minimax Algorithm with alpha-beta pruning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82448-C48C-8CB2-C12B-DEDA1E8533AE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C657A6-F24C-96F8-BCB4-701406DBF739}"/>
              </a:ext>
            </a:extLst>
          </p:cNvPr>
          <p:cNvSpPr txBox="1"/>
          <p:nvPr/>
        </p:nvSpPr>
        <p:spPr>
          <a:xfrm>
            <a:off x="1032745" y="6408315"/>
            <a:ext cx="42896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https://ai-</a:t>
            </a:r>
            <a:r>
              <a:rPr lang="en-US" sz="1200" dirty="0" err="1"/>
              <a:t>unboxed.de</a:t>
            </a:r>
            <a:r>
              <a:rPr lang="en-US" sz="1200" dirty="0"/>
              <a:t>/html/playground/minimax-</a:t>
            </a:r>
            <a:r>
              <a:rPr lang="en-US" sz="1200" dirty="0" err="1"/>
              <a:t>viz.html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D537C4-731B-2CE6-B00E-7CBD65DC0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82" y="1421923"/>
            <a:ext cx="9146849" cy="48231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70171E-C0B8-C5C1-1ACC-66D81CED5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81" y="1421922"/>
            <a:ext cx="9253909" cy="48231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AA142DD-48F6-369F-5E22-D21060595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80" y="1421921"/>
            <a:ext cx="9253908" cy="4867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29634E-B790-B852-7147-6FA04BBD7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78" y="1421919"/>
            <a:ext cx="9146848" cy="48673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82090F4-34D1-5403-47D0-84F608E180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9372" y="1421815"/>
            <a:ext cx="9146847" cy="474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4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AFAB-76CB-3E95-7A4E-52BA4CF53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CBE460-FA47-C210-A173-C5DC5996B774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69BC3-B9CD-1B57-833E-1D3372074B72}"/>
              </a:ext>
            </a:extLst>
          </p:cNvPr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Play Time (tic-tac-toe)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B9B83-F137-E347-DF8B-8D84FAAA4CE0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1C036-B97E-8BEF-D179-7579E549E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969" y="2943497"/>
            <a:ext cx="7632700" cy="337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564E84-4AD2-6AF6-7526-7DAEA9C779B4}"/>
              </a:ext>
            </a:extLst>
          </p:cNvPr>
          <p:cNvSpPr txBox="1"/>
          <p:nvPr/>
        </p:nvSpPr>
        <p:spPr>
          <a:xfrm>
            <a:off x="739865" y="1478545"/>
            <a:ext cx="10498909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rgbClr val="1B2A4A"/>
                </a:solidFill>
                <a:latin typeface="Calibri"/>
              </a:rPr>
              <a:t>When facing an empty board, we can see our AI explored </a:t>
            </a:r>
            <a:r>
              <a:rPr lang="en-CA" sz="1600" b="1" dirty="0"/>
              <a:t>549,946 nodes without pruning → 20,866 with pruning (96.2% fewer)</a:t>
            </a:r>
            <a:r>
              <a:rPr lang="en-CA" sz="1600" dirty="0"/>
              <a:t>.  Per-move pruning stayed in the </a:t>
            </a:r>
            <a:r>
              <a:rPr lang="en-CA" sz="1600" b="1" dirty="0"/>
              <a:t>55–96% reduction</a:t>
            </a:r>
            <a:r>
              <a:rPr lang="en-CA" sz="1600" dirty="0"/>
              <a:t> range throughout, shrinking as the board fills up (fewer empty cells → smaller tree) </a:t>
            </a:r>
            <a:r>
              <a:rPr lang="en-CA" sz="1600" b="1" dirty="0"/>
              <a:t>→ </a:t>
            </a:r>
            <a:r>
              <a:rPr lang="en-CA" sz="1600" dirty="0"/>
              <a:t>pruning's </a:t>
            </a:r>
            <a:r>
              <a:rPr lang="en-CA" sz="1600" i="1" dirty="0"/>
              <a:t>relative</a:t>
            </a:r>
            <a:r>
              <a:rPr lang="en-CA" sz="1600" dirty="0"/>
              <a:t> benefit is highest early in the game.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1600" dirty="0"/>
              <a:t>The end-of-game summary (</a:t>
            </a:r>
            <a:r>
              <a:rPr lang="en-CA" sz="1600" b="1" dirty="0"/>
              <a:t>94.7% fewer nodes overall</a:t>
            </a:r>
            <a:r>
              <a:rPr lang="en-CA" sz="1600" dirty="0"/>
              <a:t>) </a:t>
            </a:r>
            <a:endParaRPr lang="en-US" sz="1700" b="1" dirty="0">
              <a:solidFill>
                <a:schemeClr val="accent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0971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CC319-A8D6-CE3B-3051-BD70F1852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DC291-4F8F-E9BA-561F-9D56BBC2E742}"/>
              </a:ext>
            </a:extLst>
          </p:cNvPr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1DED9-BB6E-EEA2-C785-BDAD641FCA5F}"/>
              </a:ext>
            </a:extLst>
          </p:cNvPr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2ED89-B4B3-1EDB-2F77-FE3B524EA70A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59843-ABD8-613B-B8BD-EA98CE032866}"/>
              </a:ext>
            </a:extLst>
          </p:cNvPr>
          <p:cNvSpPr txBox="1"/>
          <p:nvPr/>
        </p:nvSpPr>
        <p:spPr>
          <a:xfrm>
            <a:off x="502920" y="1401231"/>
            <a:ext cx="11187611" cy="5091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CA" sz="1400" dirty="0">
                <a:effectLst/>
                <a:ea typeface="Times New Roman" panose="02020603050405020304" pitchFamily="18" charset="0"/>
              </a:rPr>
              <a:t>Wikipedia contributors. (n.d.). </a:t>
            </a:r>
            <a:r>
              <a:rPr lang="en-CA" sz="1400" i="1" dirty="0">
                <a:effectLst/>
                <a:ea typeface="Times New Roman" panose="02020603050405020304" pitchFamily="18" charset="0"/>
              </a:rPr>
              <a:t>Minimax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In </a:t>
            </a:r>
            <a:r>
              <a:rPr lang="en-CA" sz="1400" i="1" dirty="0">
                <a:effectLst/>
                <a:ea typeface="Times New Roman" panose="02020603050405020304" pitchFamily="18" charset="0"/>
              </a:rPr>
              <a:t>Wikipedia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Retrieved July 23, 2026, from</a:t>
            </a:r>
            <a:r>
              <a:rPr lang="en-CA" sz="1400" u="none" strike="noStrike" dirty="0">
                <a:effectLst/>
                <a:ea typeface="Times New Roman" panose="02020603050405020304" pitchFamily="18" charset="0"/>
                <a:hlinkClick r:id="rId2"/>
              </a:rPr>
              <a:t> </a:t>
            </a:r>
            <a:r>
              <a:rPr lang="en-CA" sz="1400" dirty="0">
                <a:solidFill>
                  <a:srgbClr val="1155CC"/>
                </a:solidFill>
                <a:effectLst/>
                <a:ea typeface="Times New Roman" panose="02020603050405020304" pitchFamily="18" charset="0"/>
                <a:hlinkClick r:id="rId2"/>
              </a:rPr>
              <a:t>https://en.wikipedia.org/wiki/Minimax</a:t>
            </a:r>
            <a:endParaRPr lang="en-CA" sz="105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CA" sz="1400" dirty="0">
                <a:effectLst/>
                <a:ea typeface="Times New Roman" panose="02020603050405020304" pitchFamily="18" charset="0"/>
              </a:rPr>
              <a:t>Wikipedia contributors. (n.d.). </a:t>
            </a:r>
            <a:r>
              <a:rPr lang="en-CA" sz="1400" i="1" dirty="0">
                <a:effectLst/>
                <a:ea typeface="Times New Roman" panose="02020603050405020304" pitchFamily="18" charset="0"/>
              </a:rPr>
              <a:t>Alpha–beta pruning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In </a:t>
            </a:r>
            <a:r>
              <a:rPr lang="en-CA" sz="1400" i="1" dirty="0">
                <a:effectLst/>
                <a:ea typeface="Times New Roman" panose="02020603050405020304" pitchFamily="18" charset="0"/>
              </a:rPr>
              <a:t>Wikipedia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Retrieved July 23, 2026, from</a:t>
            </a:r>
            <a:r>
              <a:rPr lang="en-CA" sz="1400" u="none" strike="noStrike" dirty="0">
                <a:effectLst/>
                <a:ea typeface="Times New Roman" panose="02020603050405020304" pitchFamily="18" charset="0"/>
                <a:hlinkClick r:id="rId3"/>
              </a:rPr>
              <a:t> </a:t>
            </a:r>
            <a:r>
              <a:rPr lang="en-CA" sz="1400" dirty="0">
                <a:solidFill>
                  <a:srgbClr val="1155CC"/>
                </a:solidFill>
                <a:effectLst/>
                <a:ea typeface="Times New Roman" panose="02020603050405020304" pitchFamily="18" charset="0"/>
                <a:hlinkClick r:id="rId3"/>
              </a:rPr>
              <a:t>https://en.wikipedia.org/wiki/Alpha%E2%80%93beta_pruning</a:t>
            </a:r>
            <a:endParaRPr lang="en-CA" sz="105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Lague, S. (2018, April 20).</a:t>
            </a:r>
            <a:r>
              <a:rPr lang="en-CA" sz="1400" i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Algorithms Explained – minimax and alpha-beta pruning</a:t>
            </a:r>
            <a:r>
              <a:rPr lang="en-CA" sz="14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[Video]. YouTube.</a:t>
            </a:r>
            <a:r>
              <a:rPr lang="en-CA" sz="1400" dirty="0">
                <a:solidFill>
                  <a:srgbClr val="1155CC"/>
                </a:solidFill>
                <a:effectLst/>
                <a:ea typeface="Times New Roman" panose="02020603050405020304" pitchFamily="18" charset="0"/>
                <a:hlinkClick r:id="rId4"/>
              </a:rPr>
              <a:t> https://youtu.be/l-hh51ncgDI</a:t>
            </a:r>
            <a:endParaRPr lang="en-CA" sz="1050" dirty="0"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CA" sz="1400" dirty="0">
                <a:effectLst/>
                <a:ea typeface="Times New Roman" panose="02020603050405020304" pitchFamily="18" charset="0"/>
              </a:rPr>
              <a:t>Galli, K. (2018, July 14). </a:t>
            </a:r>
            <a:r>
              <a:rPr lang="en-CA" sz="1400" i="1" dirty="0">
                <a:effectLst/>
                <a:ea typeface="Times New Roman" panose="02020603050405020304" pitchFamily="18" charset="0"/>
              </a:rPr>
              <a:t>How does a Board Game AI Work? (Connect 4, Othello, Chess, Checkers) – Minimax Algorithm Explained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 [Video]. YouTube.</a:t>
            </a:r>
            <a:r>
              <a:rPr lang="en-CA" sz="1400" u="none" strike="noStrike" dirty="0">
                <a:effectLst/>
                <a:ea typeface="Times New Roman" panose="02020603050405020304" pitchFamily="18" charset="0"/>
                <a:hlinkClick r:id="rId5"/>
              </a:rPr>
              <a:t> </a:t>
            </a:r>
            <a:r>
              <a:rPr lang="en-CA" sz="1400" dirty="0">
                <a:solidFill>
                  <a:srgbClr val="1155CC"/>
                </a:solidFill>
                <a:effectLst/>
                <a:ea typeface="Times New Roman" panose="02020603050405020304" pitchFamily="18" charset="0"/>
                <a:hlinkClick r:id="rId5"/>
              </a:rPr>
              <a:t>https://youtu.be/y7AKtWGOPAE</a:t>
            </a:r>
            <a:endParaRPr lang="en-CA" sz="1050" dirty="0">
              <a:effectLst/>
              <a:ea typeface="Times New Roman" panose="02020603050405020304" pitchFamily="18" charset="0"/>
            </a:endParaRPr>
          </a:p>
          <a:p>
            <a:pPr marL="342900" marR="368300" lvl="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sz="1400" dirty="0">
                <a:effectLst/>
                <a:ea typeface="Times New Roman" panose="02020603050405020304" pitchFamily="18" charset="0"/>
              </a:rPr>
              <a:t>Aradhya, A. L. (n.d.). </a:t>
            </a:r>
            <a:r>
              <a:rPr lang="en-CA" sz="1400" i="1" dirty="0">
                <a:effectLst/>
                <a:ea typeface="Times New Roman" panose="02020603050405020304" pitchFamily="18" charset="0"/>
              </a:rPr>
              <a:t>Minimax algorithm in game theory | Set 1 (Introduction)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</a:t>
            </a:r>
            <a:r>
              <a:rPr lang="en-CA" sz="1400" dirty="0" err="1">
                <a:effectLst/>
                <a:ea typeface="Times New Roman" panose="02020603050405020304" pitchFamily="18" charset="0"/>
              </a:rPr>
              <a:t>GeeksforGeeks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Retrieved July 23, 2026, from</a:t>
            </a:r>
            <a:r>
              <a:rPr lang="en-CA" sz="1400" u="none" strike="noStrike" dirty="0">
                <a:effectLst/>
                <a:ea typeface="Times New Roman" panose="02020603050405020304" pitchFamily="18" charset="0"/>
                <a:hlinkClick r:id="rId6"/>
              </a:rPr>
              <a:t> </a:t>
            </a:r>
            <a:r>
              <a:rPr lang="en-CA" sz="1400" dirty="0">
                <a:solidFill>
                  <a:srgbClr val="1155CC"/>
                </a:solidFill>
                <a:effectLst/>
                <a:ea typeface="Times New Roman" panose="02020603050405020304" pitchFamily="18" charset="0"/>
                <a:hlinkClick r:id="rId6"/>
              </a:rPr>
              <a:t>https://www.geeksforgeeks.org/dsa/minimax-algorithm-in-game-theory-set-1-introduction/</a:t>
            </a:r>
            <a:endParaRPr lang="en-CA" sz="1050" dirty="0">
              <a:effectLst/>
              <a:ea typeface="Times New Roman" panose="02020603050405020304" pitchFamily="18" charset="0"/>
            </a:endParaRPr>
          </a:p>
          <a:p>
            <a:pPr marL="342900" marR="368300" lvl="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sz="1400" dirty="0">
                <a:effectLst/>
                <a:ea typeface="Times New Roman" panose="02020603050405020304" pitchFamily="18" charset="0"/>
              </a:rPr>
              <a:t>Aradhya, A. L. (n.d.). </a:t>
            </a:r>
            <a:r>
              <a:rPr lang="en-CA" sz="1400" i="1" dirty="0">
                <a:effectLst/>
                <a:ea typeface="Times New Roman" panose="02020603050405020304" pitchFamily="18" charset="0"/>
              </a:rPr>
              <a:t>Minimax algorithm in game theory | Set 4 (Alpha-Beta Pruning)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</a:t>
            </a:r>
            <a:r>
              <a:rPr lang="en-CA" sz="1400" dirty="0" err="1">
                <a:effectLst/>
                <a:ea typeface="Times New Roman" panose="02020603050405020304" pitchFamily="18" charset="0"/>
              </a:rPr>
              <a:t>GeeksforGeeks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Retrieved July 23, 2026, from</a:t>
            </a:r>
            <a:r>
              <a:rPr lang="en-CA" sz="1400" u="none" strike="noStrike" dirty="0">
                <a:effectLst/>
                <a:ea typeface="Times New Roman" panose="02020603050405020304" pitchFamily="18" charset="0"/>
                <a:hlinkClick r:id="rId7"/>
              </a:rPr>
              <a:t> </a:t>
            </a:r>
            <a:r>
              <a:rPr lang="en-CA" sz="1400" dirty="0">
                <a:solidFill>
                  <a:srgbClr val="1155CC"/>
                </a:solidFill>
                <a:effectLst/>
                <a:ea typeface="Times New Roman" panose="02020603050405020304" pitchFamily="18" charset="0"/>
                <a:hlinkClick r:id="rId7"/>
              </a:rPr>
              <a:t>https://www.geeksforgeeks.org/dsa/minimax-algorithm-in-game-theory-set-4-alpha-beta-pruning/</a:t>
            </a:r>
            <a:endParaRPr lang="en-CA" sz="1050" dirty="0">
              <a:effectLst/>
              <a:ea typeface="Times New Roman" panose="02020603050405020304" pitchFamily="18" charset="0"/>
            </a:endParaRPr>
          </a:p>
          <a:p>
            <a:pPr marL="342900" marR="368300" lvl="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A" sz="1400" dirty="0">
                <a:effectLst/>
                <a:ea typeface="Times New Roman" panose="02020603050405020304" pitchFamily="18" charset="0"/>
              </a:rPr>
              <a:t>Aradhya, A. L. (2022, April 29). </a:t>
            </a:r>
            <a:r>
              <a:rPr lang="en-CA" sz="1400" i="1" dirty="0">
                <a:effectLst/>
                <a:ea typeface="Times New Roman" panose="02020603050405020304" pitchFamily="18" charset="0"/>
              </a:rPr>
              <a:t>Minimax algorithm in game theory | Set 3 (Tic-Tac-Toe AI – finding optimal move)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</a:t>
            </a:r>
            <a:r>
              <a:rPr lang="en-CA" sz="1400" dirty="0" err="1">
                <a:effectLst/>
                <a:ea typeface="Times New Roman" panose="02020603050405020304" pitchFamily="18" charset="0"/>
              </a:rPr>
              <a:t>GeeksforGeeks</a:t>
            </a:r>
            <a:r>
              <a:rPr lang="en-CA" sz="1400" dirty="0">
                <a:effectLst/>
                <a:ea typeface="Times New Roman" panose="02020603050405020304" pitchFamily="18" charset="0"/>
              </a:rPr>
              <a:t>. Retrieved July 23, 2026, from</a:t>
            </a:r>
            <a:r>
              <a:rPr lang="en-CA" sz="1400" u="none" strike="noStrike" dirty="0">
                <a:effectLst/>
                <a:ea typeface="Times New Roman" panose="02020603050405020304" pitchFamily="18" charset="0"/>
                <a:hlinkClick r:id="rId8"/>
              </a:rPr>
              <a:t> </a:t>
            </a:r>
            <a:r>
              <a:rPr lang="en-CA" sz="1400" dirty="0">
                <a:solidFill>
                  <a:srgbClr val="1155CC"/>
                </a:solidFill>
                <a:effectLst/>
                <a:ea typeface="Times New Roman" panose="02020603050405020304" pitchFamily="18" charset="0"/>
                <a:hlinkClick r:id="rId8"/>
              </a:rPr>
              <a:t>https://www.geeksforgeeks.org/dsa/finding-optimal-move-in-tic-tac-toe-using-minimax-algorithm-in-game-theory/</a:t>
            </a:r>
            <a:endParaRPr lang="en-CA" sz="105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17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1092</Words>
  <Application>Microsoft Macintosh PowerPoint</Application>
  <PresentationFormat>Widescreen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 Liu</cp:lastModifiedBy>
  <cp:revision>12</cp:revision>
  <dcterms:created xsi:type="dcterms:W3CDTF">2013-01-27T09:14:16Z</dcterms:created>
  <dcterms:modified xsi:type="dcterms:W3CDTF">2026-08-03T05:28:59Z</dcterms:modified>
  <cp:category/>
</cp:coreProperties>
</file>